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80" r:id="rId3"/>
    <p:sldId id="281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82" r:id="rId22"/>
    <p:sldId id="274" r:id="rId23"/>
    <p:sldId id="275" r:id="rId24"/>
    <p:sldId id="276" r:id="rId25"/>
    <p:sldId id="277" r:id="rId26"/>
    <p:sldId id="278" r:id="rId27"/>
    <p:sldId id="279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2" autoAdjust="0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236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8226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8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246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641080" y="4663440"/>
            <a:ext cx="274320" cy="274320"/>
          </a:xfrm>
          <a:prstGeom prst="ellipse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7680960" y="-1280160"/>
            <a:ext cx="3474720" cy="3474720"/>
          </a:xfrm>
          <a:prstGeom prst="ellipse">
            <a:avLst/>
          </a:prstGeom>
          <a:solidFill>
            <a:srgbClr val="0090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-1097280" y="4023360"/>
            <a:ext cx="1645920" cy="1645920"/>
          </a:xfrm>
          <a:prstGeom prst="ellipse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FFCD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8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11:05 AM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7132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Welcome to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Stream A!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Heather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9776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90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Kick-off and housekeeping.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90923" y="4526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90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A  ·  CPA AUSTRALIA</a:t>
            </a:r>
            <a:endParaRPr lang="en-US" sz="1000" dirty="0"/>
          </a:p>
        </p:txBody>
      </p:sp>
      <p:sp>
        <p:nvSpPr>
          <p:cNvPr id="13" name="TextBox 12"/>
          <p:cNvSpPr txBox="1"/>
          <p:nvPr/>
        </p:nvSpPr>
        <p:spPr>
          <a:xfrm>
            <a:off x="3383280" y="24688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1">
                <a:solidFill>
                  <a:srgbClr val="FFCD00"/>
                </a:solidFill>
                <a:latin typeface="Arial"/>
              </a:rPr>
              <a:t>#CPAAIBuild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8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 spc="400">
                <a:solidFill>
                  <a:srgbClr val="FFCD00"/>
                </a:solidFill>
                <a:latin typeface="Arial Black"/>
              </a:rPr>
              <a:t>CPA AUSTRALIA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 spc="400">
                <a:solidFill>
                  <a:srgbClr val="FFCD00"/>
                </a:solidFill>
                <a:latin typeface="Arial"/>
              </a:rPr>
              <a:t>TODAY'S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Arial Black"/>
              </a:rPr>
              <a:t>Stream A — What's 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74519"/>
            <a:ext cx="8229600" cy="292608"/>
          </a:xfrm>
          <a:prstGeom prst="rect">
            <a:avLst/>
          </a:prstGeom>
          <a:solidFill>
            <a:srgbClr val="009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911095"/>
            <a:ext cx="11430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i="0" spc="300">
                <a:solidFill>
                  <a:srgbClr val="002856"/>
                </a:solidFill>
                <a:latin typeface="Arial Black"/>
              </a:rPr>
              <a:t>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20" y="1911095"/>
            <a:ext cx="24231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i="0" spc="300">
                <a:solidFill>
                  <a:srgbClr val="002856"/>
                </a:solidFill>
                <a:latin typeface="Arial Black"/>
              </a:rPr>
              <a:t>TOPIC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1911095"/>
            <a:ext cx="4251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i="0" spc="300">
                <a:solidFill>
                  <a:srgbClr val="002856"/>
                </a:solidFill>
                <a:latin typeface="Arial Black"/>
              </a:rPr>
              <a:t>DESCRIPTION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67127"/>
            <a:ext cx="8229600" cy="292608"/>
          </a:xfrm>
          <a:prstGeom prst="rect">
            <a:avLst/>
          </a:prstGeom>
          <a:solidFill>
            <a:srgbClr val="003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212847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 Black"/>
              </a:rPr>
              <a:t>11:05 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20" y="2212847"/>
            <a:ext cx="24231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FFCD00"/>
                </a:solidFill>
                <a:latin typeface="Arial Black"/>
              </a:rPr>
              <a:t>Welcome to Stream A!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212847"/>
            <a:ext cx="42519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E8F4FA"/>
                </a:solidFill>
                <a:latin typeface="Arial"/>
              </a:rPr>
              <a:t>Kick-off and housekeeping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59735"/>
            <a:ext cx="8229600" cy="292608"/>
          </a:xfrm>
          <a:prstGeom prst="rect">
            <a:avLst/>
          </a:prstGeom>
          <a:solidFill>
            <a:srgbClr val="00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505455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 Black"/>
              </a:rPr>
              <a:t>11:15 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20" y="2505455"/>
            <a:ext cx="24231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FFCD00"/>
                </a:solidFill>
                <a:latin typeface="Arial Black"/>
              </a:rPr>
              <a:t>Quick Wins with Claude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505455"/>
            <a:ext cx="42519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E8F4FA"/>
                </a:solidFill>
                <a:latin typeface="Arial"/>
              </a:rPr>
              <a:t>Practical wins and example of using Claude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752343"/>
            <a:ext cx="8229600" cy="292608"/>
          </a:xfrm>
          <a:prstGeom prst="rect">
            <a:avLst/>
          </a:prstGeom>
          <a:solidFill>
            <a:srgbClr val="003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2798063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 Black"/>
              </a:rPr>
              <a:t>11:35 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20" y="2798063"/>
            <a:ext cx="24231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FFCD00"/>
                </a:solidFill>
                <a:latin typeface="Arial Black"/>
              </a:rPr>
              <a:t>Don't Be Afraid To 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798063"/>
            <a:ext cx="42519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E8F4FA"/>
                </a:solidFill>
                <a:latin typeface="Arial"/>
              </a:rPr>
              <a:t>Data techniques for staying safe so you can build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044951"/>
            <a:ext cx="8229600" cy="292608"/>
          </a:xfrm>
          <a:prstGeom prst="rect">
            <a:avLst/>
          </a:prstGeom>
          <a:solidFill>
            <a:srgbClr val="00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3090671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 Black"/>
              </a:rPr>
              <a:t>12:20 PM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20" y="3090671"/>
            <a:ext cx="24231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FFCD00"/>
                </a:solidFill>
                <a:latin typeface="Arial Black"/>
              </a:rPr>
              <a:t>Let's Talk Terminology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090671"/>
            <a:ext cx="425196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AU" sz="1100" b="0" i="0" dirty="0">
                <a:solidFill>
                  <a:srgbClr val="E8F4FA"/>
                </a:solidFill>
                <a:latin typeface="Arial"/>
              </a:rPr>
              <a:t>Common AI terms and what they mean</a:t>
            </a:r>
            <a:endParaRPr sz="1100" b="0" i="0" dirty="0">
              <a:solidFill>
                <a:srgbClr val="E8F4FA"/>
              </a:solidFill>
              <a:latin typeface="Arial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57200" y="3337559"/>
            <a:ext cx="8229600" cy="292608"/>
          </a:xfrm>
          <a:prstGeom prst="rect">
            <a:avLst/>
          </a:prstGeom>
          <a:solidFill>
            <a:srgbClr val="003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3383279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FFCD00"/>
                </a:solidFill>
                <a:latin typeface="Arial Black"/>
              </a:rPr>
              <a:t>12:40 PM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20" y="3383279"/>
            <a:ext cx="24231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E8F4FA"/>
                </a:solidFill>
                <a:latin typeface="Arial Black"/>
              </a:rPr>
              <a:t>Lunch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3383279"/>
            <a:ext cx="425196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AU" sz="1100" b="0" i="0" dirty="0">
                <a:solidFill>
                  <a:srgbClr val="E8F4FA"/>
                </a:solidFill>
                <a:latin typeface="Arial"/>
              </a:rPr>
              <a:t>Lunch then </a:t>
            </a:r>
            <a:r>
              <a:rPr lang="en-AU" sz="1100" dirty="0">
                <a:solidFill>
                  <a:srgbClr val="E8F4FA"/>
                </a:solidFill>
                <a:latin typeface="Arial"/>
              </a:rPr>
              <a:t>r</a:t>
            </a:r>
            <a:r>
              <a:rPr sz="1100" b="0" i="0" dirty="0" err="1">
                <a:solidFill>
                  <a:srgbClr val="E8F4FA"/>
                </a:solidFill>
                <a:latin typeface="Arial"/>
              </a:rPr>
              <a:t>eturn</a:t>
            </a:r>
            <a:r>
              <a:rPr sz="1100" b="0" i="0" dirty="0">
                <a:solidFill>
                  <a:srgbClr val="E8F4FA"/>
                </a:solidFill>
                <a:latin typeface="Arial"/>
              </a:rPr>
              <a:t> for 1:30 PM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630167"/>
            <a:ext cx="8229600" cy="292608"/>
          </a:xfrm>
          <a:prstGeom prst="rect">
            <a:avLst/>
          </a:prstGeom>
          <a:solidFill>
            <a:srgbClr val="00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" y="3675887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 Black"/>
              </a:rPr>
              <a:t>1:30 PM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74520" y="3675887"/>
            <a:ext cx="24231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FFCD00"/>
                </a:solidFill>
                <a:latin typeface="Arial Black"/>
              </a:rPr>
              <a:t>Let's Build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3675887"/>
            <a:ext cx="425196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 dirty="0">
                <a:solidFill>
                  <a:srgbClr val="E8F4FA"/>
                </a:solidFill>
                <a:latin typeface="Arial"/>
              </a:rPr>
              <a:t>Putting it all together</a:t>
            </a:r>
            <a:r>
              <a:rPr lang="en-AU" sz="1100" b="0" i="0" dirty="0">
                <a:solidFill>
                  <a:srgbClr val="E8F4FA"/>
                </a:solidFill>
                <a:latin typeface="Arial"/>
              </a:rPr>
              <a:t> –</a:t>
            </a:r>
            <a:r>
              <a:rPr lang="en-AU" sz="1100" dirty="0">
                <a:solidFill>
                  <a:srgbClr val="E8F4FA"/>
                </a:solidFill>
                <a:latin typeface="Arial"/>
              </a:rPr>
              <a:t> Build Framework and Live Build</a:t>
            </a:r>
            <a:endParaRPr sz="1100" b="0" i="0" dirty="0">
              <a:solidFill>
                <a:srgbClr val="E8F4FA"/>
              </a:solidFill>
              <a:latin typeface="Arial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57200" y="3922775"/>
            <a:ext cx="8229600" cy="292608"/>
          </a:xfrm>
          <a:prstGeom prst="rect">
            <a:avLst/>
          </a:prstGeom>
          <a:solidFill>
            <a:srgbClr val="003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4360" y="3968495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 Black"/>
              </a:rPr>
              <a:t>2:30 PM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74520" y="3968495"/>
            <a:ext cx="24231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FFCD00"/>
                </a:solidFill>
                <a:latin typeface="Arial Black"/>
              </a:rPr>
              <a:t>Wrap Up &amp; Q&amp;A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3968495"/>
            <a:ext cx="425196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 dirty="0">
                <a:solidFill>
                  <a:srgbClr val="E8F4FA"/>
                </a:solidFill>
                <a:latin typeface="Arial"/>
              </a:rPr>
              <a:t>AMA</a:t>
            </a:r>
            <a:r>
              <a:rPr lang="en-AU" sz="1100" b="0" i="0" dirty="0">
                <a:solidFill>
                  <a:srgbClr val="E8F4FA"/>
                </a:solidFill>
                <a:latin typeface="Arial"/>
              </a:rPr>
              <a:t> (Ask Me Anything)</a:t>
            </a:r>
            <a:r>
              <a:rPr sz="1100" b="0" i="0" dirty="0">
                <a:solidFill>
                  <a:srgbClr val="E8F4FA"/>
                </a:solidFill>
                <a:latin typeface="Arial"/>
              </a:rPr>
              <a:t> for all presenters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215383"/>
            <a:ext cx="8229600" cy="292608"/>
          </a:xfrm>
          <a:prstGeom prst="rect">
            <a:avLst/>
          </a:prstGeom>
          <a:solidFill>
            <a:srgbClr val="002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4360" y="4261103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FFCD00"/>
                </a:solidFill>
                <a:latin typeface="Arial Black"/>
              </a:rPr>
              <a:t>3:00 PM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74520" y="4261103"/>
            <a:ext cx="24231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E8F4FA"/>
                </a:solidFill>
                <a:latin typeface="Arial Black"/>
              </a:rPr>
              <a:t>Afternoon Tea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4840" y="4261103"/>
            <a:ext cx="42519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E8F4FA"/>
                </a:solidFill>
                <a:latin typeface="Arial"/>
              </a:rPr>
              <a:t>Return for 3:15 PM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507991"/>
            <a:ext cx="8229600" cy="292608"/>
          </a:xfrm>
          <a:prstGeom prst="rect">
            <a:avLst/>
          </a:prstGeom>
          <a:solidFill>
            <a:srgbClr val="003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94360" y="4553711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 Black"/>
              </a:rPr>
              <a:t>3:15 PM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74520" y="4553711"/>
            <a:ext cx="24231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FFCD00"/>
                </a:solidFill>
                <a:latin typeface="Arial Black"/>
              </a:rPr>
              <a:t>Hack Session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4840" y="4553711"/>
            <a:ext cx="42519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 dirty="0">
                <a:solidFill>
                  <a:srgbClr val="E8F4FA"/>
                </a:solidFill>
                <a:latin typeface="Arial"/>
              </a:rPr>
              <a:t>Build something real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24688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1">
                <a:solidFill>
                  <a:srgbClr val="FFCD00"/>
                </a:solidFill>
                <a:latin typeface="Arial"/>
              </a:rPr>
              <a:t>#CPAAIBuild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8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246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641080" y="4663440"/>
            <a:ext cx="274320" cy="274320"/>
          </a:xfrm>
          <a:prstGeom prst="ellipse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STAY CONNECTED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Find us on LinkedIn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7556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a code or tap through — let's keep the conversation going after today.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4380" y="2148840"/>
            <a:ext cx="2423160" cy="2834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9" name="Image 0" descr="./qr_shared/headshot_sara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2286000"/>
            <a:ext cx="960120" cy="960120"/>
          </a:xfrm>
          <a:prstGeom prst="rect">
            <a:avLst/>
          </a:prstGeom>
        </p:spPr>
      </p:pic>
      <p:pic>
        <p:nvPicPr>
          <p:cNvPr id="10" name="Image 1" descr="./qr_shared/qr_sara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337560"/>
            <a:ext cx="1188720" cy="11887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4380" y="463600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Nat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3360420" y="2148840"/>
            <a:ext cx="2423160" cy="2834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3" name="Image 2" descr="./qr_shared/headshot_bea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1940" y="2286000"/>
            <a:ext cx="960120" cy="960120"/>
          </a:xfrm>
          <a:prstGeom prst="rect">
            <a:avLst/>
          </a:prstGeom>
        </p:spPr>
      </p:pic>
      <p:pic>
        <p:nvPicPr>
          <p:cNvPr id="14" name="Image 3" descr="./qr_shared/qr_bea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7640" y="3337560"/>
            <a:ext cx="1188720" cy="11887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360420" y="463600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Beau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5966460" y="2148840"/>
            <a:ext cx="2423160" cy="2834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7" name="Image 4" descr="./qr_shared/headshot_heath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7980" y="2286000"/>
            <a:ext cx="960120" cy="960120"/>
          </a:xfrm>
          <a:prstGeom prst="rect">
            <a:avLst/>
          </a:prstGeom>
        </p:spPr>
      </p:pic>
      <p:pic>
        <p:nvPicPr>
          <p:cNvPr id="18" name="Image 5" descr="./qr_shared/qr_heath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3337560"/>
            <a:ext cx="1188720" cy="118872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966460" y="463600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Heather</a:t>
            </a:r>
            <a:endParaRPr lang="en-US" sz="1500" dirty="0"/>
          </a:p>
        </p:txBody>
      </p:sp>
      <p:sp>
        <p:nvSpPr>
          <p:cNvPr id="20" name="TextBox 19"/>
          <p:cNvSpPr txBox="1"/>
          <p:nvPr/>
        </p:nvSpPr>
        <p:spPr>
          <a:xfrm>
            <a:off x="3383280" y="24688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1">
                <a:solidFill>
                  <a:srgbClr val="FFCD00"/>
                </a:solidFill>
                <a:latin typeface="Arial"/>
              </a:rPr>
              <a:t>#CPAAIBuild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28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246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641080" y="4663440"/>
            <a:ext cx="274320" cy="274320"/>
          </a:xfrm>
          <a:prstGeom prst="ellipse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7680960" y="-1280160"/>
            <a:ext cx="3474720" cy="3474720"/>
          </a:xfrm>
          <a:prstGeom prst="ellipse">
            <a:avLst/>
          </a:prstGeom>
          <a:solidFill>
            <a:srgbClr val="0090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-1097280" y="4023360"/>
            <a:ext cx="1645920" cy="1645920"/>
          </a:xfrm>
          <a:prstGeom prst="ellipse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FFCD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8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11:15 AM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7132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Quick Wins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with Claude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Heather · Beau · Nat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9776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90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wins and examples of using Claude.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2940" y="4526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90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A  ·  CPA AUSTRALIA</a:t>
            </a:r>
            <a:endParaRPr lang="en-US" sz="1000" dirty="0"/>
          </a:p>
        </p:txBody>
      </p:sp>
      <p:sp>
        <p:nvSpPr>
          <p:cNvPr id="13" name="TextBox 12"/>
          <p:cNvSpPr txBox="1"/>
          <p:nvPr/>
        </p:nvSpPr>
        <p:spPr>
          <a:xfrm>
            <a:off x="3383280" y="24688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1">
                <a:solidFill>
                  <a:srgbClr val="FFCD00"/>
                </a:solidFill>
                <a:latin typeface="Arial"/>
              </a:rPr>
              <a:t>#CPAAIBuild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28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246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641080" y="4663440"/>
            <a:ext cx="274320" cy="274320"/>
          </a:xfrm>
          <a:prstGeom prst="ellipse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7680960" y="-1280160"/>
            <a:ext cx="3474720" cy="3474720"/>
          </a:xfrm>
          <a:prstGeom prst="ellipse">
            <a:avLst/>
          </a:prstGeom>
          <a:solidFill>
            <a:srgbClr val="0090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8138160" y="2834640"/>
            <a:ext cx="2011680" cy="2011680"/>
          </a:xfrm>
          <a:prstGeom prst="ellipse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Don't Be</a:t>
            </a:r>
            <a:endParaRPr lang="en-US" sz="6600" dirty="0"/>
          </a:p>
          <a:p>
            <a:pPr marL="0" indent="0">
              <a:buNone/>
            </a:pPr>
            <a:r>
              <a:rPr lang="en-US" sz="66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Afraid</a:t>
            </a:r>
            <a:endParaRPr lang="en-US" sz="66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with AI without giving up your data.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526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90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A2  ·  BEAU GAUDRON</a:t>
            </a:r>
            <a:endParaRPr lang="en-US" sz="1000" dirty="0"/>
          </a:p>
        </p:txBody>
      </p:sp>
      <p:sp>
        <p:nvSpPr>
          <p:cNvPr id="10" name="TextBox 9"/>
          <p:cNvSpPr txBox="1"/>
          <p:nvPr/>
        </p:nvSpPr>
        <p:spPr>
          <a:xfrm>
            <a:off x="3383280" y="24688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1">
                <a:solidFill>
                  <a:srgbClr val="FFCD00"/>
                </a:solidFill>
                <a:latin typeface="Arial"/>
              </a:rPr>
              <a:t>#CPAAIBuild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90C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246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2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641080" y="4663440"/>
            <a:ext cx="274320" cy="274320"/>
          </a:xfrm>
          <a:prstGeom prst="ellipse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90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28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concern we hear every week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977640" cy="21031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109728" cy="2103120"/>
          </a:xfrm>
          <a:prstGeom prst="rect">
            <a:avLst/>
          </a:prstGeom>
          <a:solidFill>
            <a:srgbClr val="0090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8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“I want to use AI…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25603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3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…but I don't know where to start.”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709160" y="1783080"/>
            <a:ext cx="3977640" cy="21031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Shape 10"/>
          <p:cNvSpPr/>
          <p:nvPr/>
        </p:nvSpPr>
        <p:spPr>
          <a:xfrm>
            <a:off x="4709160" y="1783080"/>
            <a:ext cx="109728" cy="2103120"/>
          </a:xfrm>
          <a:prstGeom prst="rect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4983480" y="20116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8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“I want to use AI…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983480" y="25603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3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…but I'm worried about sharing client data.”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2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session: techniques for building with AI — without giving up your data.</a:t>
            </a:r>
            <a:endParaRPr lang="en-US" sz="1400" dirty="0"/>
          </a:p>
        </p:txBody>
      </p:sp>
      <p:sp>
        <p:nvSpPr>
          <p:cNvPr id="16" name="TextBox 15"/>
          <p:cNvSpPr txBox="1"/>
          <p:nvPr/>
        </p:nvSpPr>
        <p:spPr>
          <a:xfrm>
            <a:off x="3383280" y="24688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1">
                <a:solidFill>
                  <a:srgbClr val="FFCD00"/>
                </a:solidFill>
                <a:latin typeface="Arial"/>
              </a:rPr>
              <a:t>#CPAAIBuild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90C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246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2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641080" y="4663440"/>
            <a:ext cx="274320" cy="274320"/>
          </a:xfrm>
          <a:prstGeom prst="ellipse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90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ONE · GET MOVING WITHOUT REAL DATA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28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Dummy data to start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3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already have an idea. Data is the blocker. Start with data that isn't yours.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2670048" cy="224028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2670048" cy="292608"/>
          </a:xfrm>
          <a:prstGeom prst="rect">
            <a:avLst/>
          </a:prstGeom>
          <a:solidFill>
            <a:srgbClr val="0090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640080" y="22677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26974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8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Building with Xero?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" y="32918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3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up for a Xero trial, use the API Explorer on demo-company data. Zero risk.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73552" y="2240280"/>
            <a:ext cx="2670048" cy="224028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3273552" y="2240280"/>
            <a:ext cx="2670048" cy="292608"/>
          </a:xfrm>
          <a:prstGeom prst="rect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3456432" y="22677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8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26974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8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Building with something else?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74720" y="32918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3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what's available (APIs, MCPs, connectors) and what are the access limits?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89904" y="2240280"/>
            <a:ext cx="2670048" cy="224028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Shape 17"/>
          <p:cNvSpPr/>
          <p:nvPr/>
        </p:nvSpPr>
        <p:spPr>
          <a:xfrm>
            <a:off x="6089904" y="2240280"/>
            <a:ext cx="2670048" cy="292608"/>
          </a:xfrm>
          <a:prstGeom prst="rect">
            <a:avLst/>
          </a:prstGeom>
          <a:solidFill>
            <a:srgbClr val="00285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6272784" y="22677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91072" y="26974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8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Generating fake data at scale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91072" y="32918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3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know how the data should look, let an LLM fabricate it. Test the whole build first.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3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Dummy data proves the build. But you want real data — and real action.</a:t>
            </a:r>
            <a:endParaRPr lang="en-US" sz="1200" dirty="0"/>
          </a:p>
        </p:txBody>
      </p:sp>
      <p:sp>
        <p:nvSpPr>
          <p:cNvPr id="24" name="TextBox 23"/>
          <p:cNvSpPr txBox="1"/>
          <p:nvPr/>
        </p:nvSpPr>
        <p:spPr>
          <a:xfrm>
            <a:off x="3383280" y="24688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1">
                <a:solidFill>
                  <a:srgbClr val="FFCD00"/>
                </a:solidFill>
                <a:latin typeface="Arial"/>
              </a:rPr>
              <a:t>#CPAAIBuild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90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246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641080" y="4663440"/>
            <a:ext cx="274320" cy="274320"/>
          </a:xfrm>
          <a:prstGeom prst="ellipse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QUICK INTERLUDE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Principle of Least Privilege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3977640" cy="2331720"/>
          </a:xfrm>
          <a:prstGeom prst="rect">
            <a:avLst/>
          </a:prstGeom>
          <a:solidFill>
            <a:srgbClr val="00285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685800" y="24231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Sounds complex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…but you already do this.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800" y="2971800"/>
            <a:ext cx="3566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grant someone access to an accounting system, you don't hand them everything. You decide what they need to see.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2240280"/>
            <a:ext cx="3977640" cy="2331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4937760" y="2423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90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PRINCIPLE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274320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8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Only give up enough for the task at hand</a:t>
            </a:r>
            <a:endParaRPr lang="en-US"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3383280" y="24688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1">
                <a:solidFill>
                  <a:srgbClr val="FFCD00"/>
                </a:solidFill>
                <a:latin typeface="Arial"/>
              </a:rPr>
              <a:t>#CPAAIBuild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90C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246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2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641080" y="4663440"/>
            <a:ext cx="274320" cy="274320"/>
          </a:xfrm>
          <a:prstGeom prst="ellipse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90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IDEA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28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data obfuscation?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8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Adjusting real data while keeping it non-identifiable.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4114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3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have a client name. You swap it for a unique randomised token. The AI still analyses the shape of your data it just doesn't know who.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160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090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minimised risk of data exposure.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1691640"/>
            <a:ext cx="3840480" cy="2926080"/>
          </a:xfrm>
          <a:prstGeom prst="rect">
            <a:avLst/>
          </a:prstGeom>
          <a:solidFill>
            <a:srgbClr val="00285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5074920" y="1828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74920" y="2121408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Acme Pty Ltd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Jane Smith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ABN 12 345 678 901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74920" y="3063240"/>
            <a:ext cx="548640" cy="274320"/>
          </a:xfrm>
          <a:prstGeom prst="rightArrow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5074920" y="3429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74920" y="3721608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CLIENT_001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CONTACT_A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ABN 99 111 222 333</a:t>
            </a:r>
            <a:endParaRPr lang="en-US" sz="1300" dirty="0"/>
          </a:p>
        </p:txBody>
      </p:sp>
      <p:sp>
        <p:nvSpPr>
          <p:cNvPr id="16" name="TextBox 15"/>
          <p:cNvSpPr txBox="1"/>
          <p:nvPr/>
        </p:nvSpPr>
        <p:spPr>
          <a:xfrm>
            <a:off x="3383280" y="24688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1">
                <a:solidFill>
                  <a:srgbClr val="FFCD00"/>
                </a:solidFill>
                <a:latin typeface="Arial"/>
              </a:rPr>
              <a:t>#CPAAIBuild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90C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246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2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641080" y="4663440"/>
            <a:ext cx="274320" cy="274320"/>
          </a:xfrm>
          <a:prstGeom prst="ellipse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90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 NOTE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28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Always ask: what data is this?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3977640" cy="2743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3977640" cy="457200"/>
          </a:xfrm>
          <a:prstGeom prst="rect">
            <a:avLst/>
          </a:prstGeom>
          <a:solidFill>
            <a:srgbClr val="0090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640080" y="18013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PUBLIC DATA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2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dashboard of your social channels? The data is already out there. Worry less about what you share with the model.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737360"/>
            <a:ext cx="3977640" cy="2743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Shape 10"/>
          <p:cNvSpPr/>
          <p:nvPr/>
        </p:nvSpPr>
        <p:spPr>
          <a:xfrm>
            <a:off x="4709160" y="1737360"/>
            <a:ext cx="3977640" cy="457200"/>
          </a:xfrm>
          <a:prstGeom prst="rect">
            <a:avLst/>
          </a:prstGeom>
          <a:solidFill>
            <a:srgbClr val="00285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4892040" y="18013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STILL GUARD THIS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2377440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2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keys. Access tokens. Credentials. Client Identifiers.</a:t>
            </a:r>
            <a:endParaRPr lang="en-US" sz="1300" dirty="0"/>
          </a:p>
        </p:txBody>
      </p:sp>
      <p:sp>
        <p:nvSpPr>
          <p:cNvPr id="15" name="TextBox 14"/>
          <p:cNvSpPr txBox="1"/>
          <p:nvPr/>
        </p:nvSpPr>
        <p:spPr>
          <a:xfrm>
            <a:off x="3383280" y="24688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1">
                <a:solidFill>
                  <a:srgbClr val="FFCD00"/>
                </a:solidFill>
                <a:latin typeface="Arial"/>
              </a:rPr>
              <a:t>#CPAAIBuild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90C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246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2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641080" y="4663440"/>
            <a:ext cx="274320" cy="274320"/>
          </a:xfrm>
          <a:prstGeom prst="ellipse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90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OBFUSCATE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28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lookup table is the whole trick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114800" cy="2560320"/>
          </a:xfrm>
          <a:prstGeom prst="rect">
            <a:avLst/>
          </a:prstGeom>
          <a:solidFill>
            <a:srgbClr val="00285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VALUE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6032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90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Acme Pty Ltd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2286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C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CLIENT_001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697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Northwind Ltd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2697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C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CLIENT_002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Jane Smith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C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CONTACT_A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John Doe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6032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C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CONTACT_B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182880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2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value one side. Token the other. Swap one way to send data out swap the other way to bring answers back.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46320" y="3108960"/>
            <a:ext cx="3840480" cy="1280160"/>
          </a:xfrm>
          <a:prstGeom prst="rect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5074920" y="32461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28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table IS the key.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074920" y="370332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2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it in a file you control. The AI never sees the real data.</a:t>
            </a:r>
            <a:endParaRPr lang="en-US" sz="1200" dirty="0"/>
          </a:p>
        </p:txBody>
      </p:sp>
      <p:sp>
        <p:nvSpPr>
          <p:cNvPr id="22" name="TextBox 21"/>
          <p:cNvSpPr txBox="1"/>
          <p:nvPr/>
        </p:nvSpPr>
        <p:spPr>
          <a:xfrm>
            <a:off x="3383280" y="24688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1">
                <a:solidFill>
                  <a:srgbClr val="FFCD00"/>
                </a:solidFill>
                <a:latin typeface="Arial"/>
              </a:rPr>
              <a:t>#CPAAIBuild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90C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246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2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641080" y="4663440"/>
            <a:ext cx="274320" cy="274320"/>
          </a:xfrm>
          <a:prstGeom prst="ellipse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90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CAN DO THIS TODAY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28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Level 1 — Excel formulas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" cy="822960"/>
          </a:xfrm>
          <a:prstGeom prst="ellipse">
            <a:avLst/>
          </a:prstGeom>
          <a:solidFill>
            <a:srgbClr val="0090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463040" y="178308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28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 a two-column lookup and swap with XLOOKUP.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48463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457200" y="2697480"/>
            <a:ext cx="347472" cy="347472"/>
          </a:xfrm>
          <a:prstGeom prst="rect">
            <a:avLst/>
          </a:prstGeom>
          <a:solidFill>
            <a:srgbClr val="0090C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269748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two-column table: real name + token (CLIENT_001, CLIENT_002…)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48463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457200" y="3108960"/>
            <a:ext cx="347472" cy="347472"/>
          </a:xfrm>
          <a:prstGeom prst="rect">
            <a:avLst/>
          </a:prstGeom>
          <a:solidFill>
            <a:srgbClr val="0090C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310896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=UNIQUE() and =SEQUENCE() to auto-generate the token list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48463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457200" y="3520440"/>
            <a:ext cx="347472" cy="347472"/>
          </a:xfrm>
          <a:prstGeom prst="rect">
            <a:avLst/>
          </a:prstGeom>
          <a:solidFill>
            <a:srgbClr val="0090C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352044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=XLOOKUP to swap real values → tokens before sending to AI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48463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457200" y="3931920"/>
            <a:ext cx="347472" cy="347472"/>
          </a:xfrm>
          <a:prstGeom prst="rect">
            <a:avLst/>
          </a:prstGeom>
          <a:solidFill>
            <a:srgbClr val="0090C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393192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=XLOOKUP in reverse to restore real values in the AI's response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0" y="2697480"/>
            <a:ext cx="3200400" cy="1691640"/>
          </a:xfrm>
          <a:prstGeom prst="rect">
            <a:avLst/>
          </a:prstGeom>
          <a:solidFill>
            <a:srgbClr val="00285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5669280" y="27889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69280" y="30175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new tools. Works in modern Excel. Easy to explain.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0" y="37033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90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69280" y="39319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steps. Easy to forget a column.</a:t>
            </a:r>
            <a:endParaRPr lang="en-US" sz="1100" dirty="0"/>
          </a:p>
        </p:txBody>
      </p:sp>
      <p:sp>
        <p:nvSpPr>
          <p:cNvPr id="28" name="TextBox 27"/>
          <p:cNvSpPr txBox="1"/>
          <p:nvPr/>
        </p:nvSpPr>
        <p:spPr>
          <a:xfrm>
            <a:off x="3383280" y="24688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1">
                <a:solidFill>
                  <a:srgbClr val="FFCD00"/>
                </a:solidFill>
                <a:latin typeface="Arial"/>
              </a:rPr>
              <a:t>#CPAAIBuild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90C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246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2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641080" y="4663440"/>
            <a:ext cx="274320" cy="274320"/>
          </a:xfrm>
          <a:prstGeom prst="ellipse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90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QUERY OR OFFICE SCRIPTS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28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Level 2 — one-click workflow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" cy="822960"/>
          </a:xfrm>
          <a:prstGeom prst="ellipse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28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463040" y="178308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28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Record a macro, attach a button, refresh on demand.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3977640" cy="14173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109728" cy="1417320"/>
          </a:xfrm>
          <a:prstGeom prst="rect">
            <a:avLst/>
          </a:prstGeom>
          <a:solidFill>
            <a:srgbClr val="0090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713232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28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 Query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13232" y="32004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3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Merge queries to swap tokens in and out. Right-click, Refresh.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2697480"/>
            <a:ext cx="3977640" cy="14173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Shape 13"/>
          <p:cNvSpPr/>
          <p:nvPr/>
        </p:nvSpPr>
        <p:spPr>
          <a:xfrm>
            <a:off x="4709160" y="2697480"/>
            <a:ext cx="109728" cy="1417320"/>
          </a:xfrm>
          <a:prstGeom prst="rect">
            <a:avLst/>
          </a:prstGeom>
          <a:solidFill>
            <a:srgbClr val="0090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4965192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28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Office Scripts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965192" y="32004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3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a macro that does the swap and attach it to a button. Works on Windows, Mac, and web.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297680"/>
            <a:ext cx="3977640" cy="502920"/>
          </a:xfrm>
          <a:prstGeom prst="rect">
            <a:avLst/>
          </a:prstGeom>
          <a:solidFill>
            <a:srgbClr val="00285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640080" y="431596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80160" y="43159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Repeatable. Self-service for the team.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4297680"/>
            <a:ext cx="3977640" cy="502920"/>
          </a:xfrm>
          <a:prstGeom prst="rect">
            <a:avLst/>
          </a:prstGeom>
          <a:solidFill>
            <a:srgbClr val="00285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4892040" y="431596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90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32120" y="43159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M365 business licence; a bit of setup.</a:t>
            </a:r>
            <a:endParaRPr lang="en-US" sz="1100" dirty="0"/>
          </a:p>
        </p:txBody>
      </p:sp>
      <p:sp>
        <p:nvSpPr>
          <p:cNvPr id="24" name="TextBox 23"/>
          <p:cNvSpPr txBox="1"/>
          <p:nvPr/>
        </p:nvSpPr>
        <p:spPr>
          <a:xfrm>
            <a:off x="3383280" y="24688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1">
                <a:solidFill>
                  <a:srgbClr val="FFCD00"/>
                </a:solidFill>
                <a:latin typeface="Arial"/>
              </a:rPr>
              <a:t>#CPAAIBuild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90C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246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2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641080" y="4663440"/>
            <a:ext cx="274320" cy="274320"/>
          </a:xfrm>
          <a:prstGeom prst="ellipse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90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TECH-SAVVY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28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Level 3 — Python or a small script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" cy="822960"/>
          </a:xfrm>
          <a:prstGeom prst="ellipse">
            <a:avLst/>
          </a:prstGeom>
          <a:solidFill>
            <a:srgbClr val="00285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463040" y="178308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28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Format-preserving encryption. Nothing leaves the machine in cleartext.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709160" y="2697480"/>
            <a:ext cx="3977640" cy="1691640"/>
          </a:xfrm>
          <a:prstGeom prst="rect">
            <a:avLst/>
          </a:prstGeom>
          <a:solidFill>
            <a:srgbClr val="00285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4892040" y="2788920"/>
            <a:ext cx="365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pyffx import String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cipher = String(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key, alphabet="ABC...", length=11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cipher.encrypt(abn)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397764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594360" y="271576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0C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pyffx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874520" y="271576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2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Format-preserving encryption — an ABN stays an 11-digit number.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64408"/>
            <a:ext cx="397764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594360" y="3282696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0C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HMAC hash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874520" y="3282696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2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simple, deterministic token for one-way tokenisation.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831336"/>
            <a:ext cx="397764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594360" y="384962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0C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storage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874520" y="3849624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2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encryption key in a password manager or secret store.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3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PROS: stronger guarantees. CONS: not easily transferrable to other systems without additional work</a:t>
            </a:r>
            <a:endParaRPr lang="en-US" sz="1100" dirty="0"/>
          </a:p>
        </p:txBody>
      </p:sp>
      <p:sp>
        <p:nvSpPr>
          <p:cNvPr id="22" name="TextBox 21"/>
          <p:cNvSpPr txBox="1"/>
          <p:nvPr/>
        </p:nvSpPr>
        <p:spPr>
          <a:xfrm>
            <a:off x="3383280" y="24688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1">
                <a:solidFill>
                  <a:srgbClr val="FFCD00"/>
                </a:solidFill>
                <a:latin typeface="Arial"/>
              </a:rPr>
              <a:t>#CPAAIBuild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28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246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641080" y="4663440"/>
            <a:ext cx="274320" cy="274320"/>
          </a:xfrm>
          <a:prstGeom prst="ellipse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-1463040" y="3749040"/>
            <a:ext cx="1737360" cy="1737360"/>
          </a:xfrm>
          <a:prstGeom prst="ellipse">
            <a:avLst/>
          </a:prstGeom>
          <a:solidFill>
            <a:srgbClr val="0090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7863840" y="-731520"/>
            <a:ext cx="2194560" cy="2194560"/>
          </a:xfrm>
          <a:prstGeom prst="ellipse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PRINCIPLE IS THE SAME AT EVERY LEVEL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7863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“The model never sees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real data.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hold the key.”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40080" y="4343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90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level that matches your team's comfort.</a:t>
            </a:r>
            <a:endParaRPr lang="en-US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3383280" y="24688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1">
                <a:solidFill>
                  <a:srgbClr val="FFCD00"/>
                </a:solidFill>
                <a:latin typeface="Arial"/>
              </a:rPr>
              <a:t>#CPAAIBuild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90C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246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2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641080" y="4663440"/>
            <a:ext cx="274320" cy="274320"/>
          </a:xfrm>
          <a:prstGeom prst="ellipse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90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 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28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Exercise — try it yourself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3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a dummy dataset from GitHub. No real client data — just Karbon &amp; FYI shaped JSON.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3977640" cy="23317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685800" y="239572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90C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2816352"/>
            <a:ext cx="2286000" cy="365760"/>
          </a:xfrm>
          <a:prstGeom prst="rect">
            <a:avLst/>
          </a:prstGeom>
          <a:solidFill>
            <a:srgbClr val="00285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822960" y="28163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C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karbon_example.csv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3291840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2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to Claude: “Give me a breakdown of where each team member works based on this file.”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2286000"/>
            <a:ext cx="3977640" cy="23317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4937760" y="239572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90C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37760" y="2816352"/>
            <a:ext cx="2286000" cy="365760"/>
          </a:xfrm>
          <a:prstGeom prst="rect">
            <a:avLst/>
          </a:prstGeom>
          <a:solidFill>
            <a:srgbClr val="002856"/>
          </a:solidFill>
          <a:ln/>
        </p:spPr>
        <p:txBody>
          <a:bodyPr/>
          <a:lstStyle/>
          <a:p>
            <a:endParaRPr lang="en-AU" dirty="0"/>
          </a:p>
        </p:txBody>
      </p:sp>
      <p:sp>
        <p:nvSpPr>
          <p:cNvPr id="16" name="Text 14"/>
          <p:cNvSpPr/>
          <p:nvPr/>
        </p:nvSpPr>
        <p:spPr>
          <a:xfrm>
            <a:off x="5074920" y="28163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C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fyi_example.csv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291840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2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this one: Create a 1000 records but add the categories, Tax, Bookkeeping and FBT</a:t>
            </a:r>
            <a:endParaRPr lang="en-US" sz="1200" dirty="0"/>
          </a:p>
        </p:txBody>
      </p:sp>
      <p:sp>
        <p:nvSpPr>
          <p:cNvPr id="18" name="TextBox 17"/>
          <p:cNvSpPr txBox="1"/>
          <p:nvPr/>
        </p:nvSpPr>
        <p:spPr>
          <a:xfrm>
            <a:off x="3383280" y="24688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1">
                <a:solidFill>
                  <a:srgbClr val="FFCD00"/>
                </a:solidFill>
                <a:latin typeface="Arial"/>
              </a:rPr>
              <a:t>#CPAAIBuild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90C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246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2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641080" y="4663440"/>
            <a:ext cx="274320" cy="274320"/>
          </a:xfrm>
          <a:prstGeom prst="ellipse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90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INTERCONNECTIVITY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28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“I can already do this in Excel”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28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Sure. But think beyond the spreadsheet.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2670048" cy="21031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731520" y="2560320"/>
            <a:ext cx="640080" cy="640080"/>
          </a:xfrm>
          <a:prstGeom prst="ellipse">
            <a:avLst/>
          </a:prstGeom>
          <a:solidFill>
            <a:srgbClr val="0090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73152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8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Scheduled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6576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3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produces the summary on a schedule nightly, weekly, whenever.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73552" y="2377440"/>
            <a:ext cx="2670048" cy="21031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3547872" y="2560320"/>
            <a:ext cx="640080" cy="640080"/>
          </a:xfrm>
          <a:prstGeom prst="ellipse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3547872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28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547872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8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Distributed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47872" y="36576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3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routed to Slack or email for each manager or team member.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9904" y="2377440"/>
            <a:ext cx="2670048" cy="21031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Shape 17"/>
          <p:cNvSpPr/>
          <p:nvPr/>
        </p:nvSpPr>
        <p:spPr>
          <a:xfrm>
            <a:off x="6364224" y="2560320"/>
            <a:ext cx="640080" cy="640080"/>
          </a:xfrm>
          <a:prstGeom prst="ellipse">
            <a:avLst/>
          </a:prstGeom>
          <a:solidFill>
            <a:srgbClr val="00285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6364224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364224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8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Actionable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64224" y="36576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3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Managers get time visibility without having to ask. Insight becomes operations.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3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all starts with data. The question is: how do we get it, and what do we do with it?</a:t>
            </a:r>
            <a:endParaRPr lang="en-US" sz="1200" dirty="0"/>
          </a:p>
        </p:txBody>
      </p:sp>
      <p:sp>
        <p:nvSpPr>
          <p:cNvPr id="24" name="TextBox 23"/>
          <p:cNvSpPr txBox="1"/>
          <p:nvPr/>
        </p:nvSpPr>
        <p:spPr>
          <a:xfrm>
            <a:off x="3383280" y="24688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1">
                <a:solidFill>
                  <a:srgbClr val="FFCD00"/>
                </a:solidFill>
                <a:latin typeface="Arial"/>
              </a:rPr>
              <a:t>#CPAAIBuild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28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246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641080" y="4663440"/>
            <a:ext cx="274320" cy="274320"/>
          </a:xfrm>
          <a:prstGeom prst="ellipse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7680960" y="-1280160"/>
            <a:ext cx="3474720" cy="3474720"/>
          </a:xfrm>
          <a:prstGeom prst="ellipse">
            <a:avLst/>
          </a:prstGeom>
          <a:solidFill>
            <a:srgbClr val="0090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-1097280" y="4023360"/>
            <a:ext cx="1645920" cy="1645920"/>
          </a:xfrm>
          <a:prstGeom prst="ellipse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FFCD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8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12:20 PM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7132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Talk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Terminology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Heather · Beau · Nat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9776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90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AI terms and what they mean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2940" y="4526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90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A  ·  CPA AUSTRALIA</a:t>
            </a:r>
            <a:endParaRPr lang="en-US" sz="1000" dirty="0"/>
          </a:p>
        </p:txBody>
      </p:sp>
      <p:sp>
        <p:nvSpPr>
          <p:cNvPr id="13" name="TextBox 12"/>
          <p:cNvSpPr txBox="1"/>
          <p:nvPr/>
        </p:nvSpPr>
        <p:spPr>
          <a:xfrm>
            <a:off x="3383280" y="24688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1">
                <a:solidFill>
                  <a:srgbClr val="FFCD00"/>
                </a:solidFill>
                <a:latin typeface="Arial"/>
              </a:rPr>
              <a:t>#CPAAIBuild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28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246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641080" y="4663440"/>
            <a:ext cx="274320" cy="274320"/>
          </a:xfrm>
          <a:prstGeom prst="ellipse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7680960" y="-1280160"/>
            <a:ext cx="3474720" cy="3474720"/>
          </a:xfrm>
          <a:prstGeom prst="ellipse">
            <a:avLst/>
          </a:prstGeom>
          <a:solidFill>
            <a:srgbClr val="0090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-1097280" y="4023360"/>
            <a:ext cx="1645920" cy="1645920"/>
          </a:xfrm>
          <a:prstGeom prst="ellipse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FFCD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8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12:40 PM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7132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Lunch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57200" y="39776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90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for lunch — return for 1:30 PM.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2940" y="4501585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90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 ·  STREAM A</a:t>
            </a:r>
            <a:endParaRPr lang="en-US" sz="1000" dirty="0"/>
          </a:p>
        </p:txBody>
      </p:sp>
      <p:sp>
        <p:nvSpPr>
          <p:cNvPr id="12" name="TextBox 11"/>
          <p:cNvSpPr txBox="1"/>
          <p:nvPr/>
        </p:nvSpPr>
        <p:spPr>
          <a:xfrm>
            <a:off x="3383280" y="24688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1">
                <a:solidFill>
                  <a:srgbClr val="FFCD00"/>
                </a:solidFill>
                <a:latin typeface="Arial"/>
              </a:rPr>
              <a:t>#CPAAIBuild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28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246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641080" y="4663440"/>
            <a:ext cx="274320" cy="274320"/>
          </a:xfrm>
          <a:prstGeom prst="ellipse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7680960" y="-1280160"/>
            <a:ext cx="3474720" cy="3474720"/>
          </a:xfrm>
          <a:prstGeom prst="ellipse">
            <a:avLst/>
          </a:prstGeom>
          <a:solidFill>
            <a:srgbClr val="0090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-1097280" y="4023360"/>
            <a:ext cx="1645920" cy="1645920"/>
          </a:xfrm>
          <a:prstGeom prst="ellipse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FFCD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8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1:30 PM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7132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Build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Heather · Beau · Nat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9776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90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Putting it all together — live build.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2940" y="4526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90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A  ·  CPA AUSTRALIA</a:t>
            </a:r>
            <a:endParaRPr lang="en-US" sz="1000" dirty="0"/>
          </a:p>
        </p:txBody>
      </p:sp>
      <p:sp>
        <p:nvSpPr>
          <p:cNvPr id="13" name="TextBox 12"/>
          <p:cNvSpPr txBox="1"/>
          <p:nvPr/>
        </p:nvSpPr>
        <p:spPr>
          <a:xfrm>
            <a:off x="3383280" y="24688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1">
                <a:solidFill>
                  <a:srgbClr val="FFCD00"/>
                </a:solidFill>
                <a:latin typeface="Arial"/>
              </a:rPr>
              <a:t>#CPAAIBuild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8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 spc="400">
                <a:solidFill>
                  <a:srgbClr val="FFCD00"/>
                </a:solidFill>
                <a:latin typeface="Arial Black"/>
              </a:rPr>
              <a:t>CPA AUSTRALIA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 spc="400">
                <a:solidFill>
                  <a:srgbClr val="FFCD00"/>
                </a:solidFill>
                <a:latin typeface="Arial"/>
              </a:rPr>
              <a:t>PUTTING IT ALL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Arial Black"/>
              </a:rPr>
              <a:t>A framework for your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74519"/>
            <a:ext cx="1514246" cy="2788920"/>
          </a:xfrm>
          <a:prstGeom prst="rect">
            <a:avLst/>
          </a:prstGeom>
          <a:solidFill>
            <a:srgbClr val="003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874519"/>
            <a:ext cx="1514246" cy="91440"/>
          </a:xfrm>
          <a:prstGeom prst="rect">
            <a:avLst/>
          </a:prstGeom>
          <a:solidFill>
            <a:srgbClr val="009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039111"/>
            <a:ext cx="151424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 i="0">
                <a:solidFill>
                  <a:srgbClr val="0090C5"/>
                </a:solidFill>
                <a:latin typeface="Arial Black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87751"/>
            <a:ext cx="133136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 Black"/>
              </a:rPr>
              <a:t>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081527"/>
            <a:ext cx="1185062" cy="15388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 dirty="0">
                <a:solidFill>
                  <a:srgbClr val="E8F4FA"/>
                </a:solidFill>
                <a:latin typeface="Arial"/>
              </a:rPr>
              <a:t>Use your domain knowledge to scope the task: blockers, manual steps, data, tech, users, expected output. Don't reinvent the wheel ROAD: Rip Off And Duplicate</a:t>
            </a:r>
            <a:r>
              <a:rPr lang="en-AU" sz="1000" b="0" i="0" dirty="0">
                <a:solidFill>
                  <a:srgbClr val="E8F4FA"/>
                </a:solidFill>
                <a:latin typeface="Arial"/>
              </a:rPr>
              <a:t> (and improve!)</a:t>
            </a:r>
            <a:endParaRPr sz="1000" b="0" i="0" dirty="0">
              <a:solidFill>
                <a:srgbClr val="E8F4FA"/>
              </a:solidFill>
              <a:latin typeface="Arial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136038" y="1874519"/>
            <a:ext cx="1514246" cy="2788920"/>
          </a:xfrm>
          <a:prstGeom prst="rect">
            <a:avLst/>
          </a:prstGeom>
          <a:solidFill>
            <a:srgbClr val="003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136038" y="1874519"/>
            <a:ext cx="1514246" cy="9144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36038" y="2039111"/>
            <a:ext cx="151424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 i="0">
                <a:solidFill>
                  <a:srgbClr val="FFCD00"/>
                </a:solidFill>
                <a:latin typeface="Arial Black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27478" y="2587751"/>
            <a:ext cx="133136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 Black"/>
              </a:rPr>
              <a:t>Define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00630" y="3081527"/>
            <a:ext cx="1185062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E8F4FA"/>
                </a:solidFill>
                <a:latin typeface="Arial"/>
              </a:rPr>
              <a:t>Give the AI clear, detailed instructions. Two paths: a detailed prompt, OR a CLAUDE.MD / AGENTS.MD instructions file you can carry between tools.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14876" y="1874519"/>
            <a:ext cx="1514246" cy="2788920"/>
          </a:xfrm>
          <a:prstGeom prst="rect">
            <a:avLst/>
          </a:prstGeom>
          <a:solidFill>
            <a:srgbClr val="003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814876" y="1874519"/>
            <a:ext cx="1514246" cy="91440"/>
          </a:xfrm>
          <a:prstGeom prst="rect">
            <a:avLst/>
          </a:prstGeom>
          <a:solidFill>
            <a:srgbClr val="009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14876" y="2039111"/>
            <a:ext cx="151424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 i="0">
                <a:solidFill>
                  <a:srgbClr val="0090C5"/>
                </a:solidFill>
                <a:latin typeface="Arial Black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06316" y="2587751"/>
            <a:ext cx="133136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 Black"/>
              </a:rPr>
              <a:t>Build (Test)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9468" y="3081527"/>
            <a:ext cx="1185062" cy="12311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 dirty="0">
                <a:solidFill>
                  <a:srgbClr val="E8F4FA"/>
                </a:solidFill>
                <a:latin typeface="Arial"/>
              </a:rPr>
              <a:t>Aim for an MVP make it work, even if ugly. Treat AI as a tool, not a wizard. Test functionality first, then usability. Track issues in an issues file.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93715" y="1874519"/>
            <a:ext cx="1514246" cy="2788920"/>
          </a:xfrm>
          <a:prstGeom prst="rect">
            <a:avLst/>
          </a:prstGeom>
          <a:solidFill>
            <a:srgbClr val="003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93715" y="1874519"/>
            <a:ext cx="1514246" cy="9144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93715" y="2039111"/>
            <a:ext cx="151424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 i="0">
                <a:solidFill>
                  <a:srgbClr val="FFCD00"/>
                </a:solidFill>
                <a:latin typeface="Arial Black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85155" y="2587751"/>
            <a:ext cx="133136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 Black"/>
              </a:rPr>
              <a:t>Refine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58307" y="3081527"/>
            <a:ext cx="1185062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E8F4FA"/>
                </a:solidFill>
                <a:latin typeface="Arial"/>
              </a:rPr>
              <a:t>Now make it better. Tackle the little things you let slide in the test phase: branding, polish, edge cases, the rough corners that almost-but-not-quite worked.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72553" y="1874519"/>
            <a:ext cx="1514246" cy="2788920"/>
          </a:xfrm>
          <a:prstGeom prst="rect">
            <a:avLst/>
          </a:prstGeom>
          <a:solidFill>
            <a:srgbClr val="003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172553" y="1874519"/>
            <a:ext cx="1514246" cy="91440"/>
          </a:xfrm>
          <a:prstGeom prst="rect">
            <a:avLst/>
          </a:prstGeom>
          <a:solidFill>
            <a:srgbClr val="009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72553" y="2039111"/>
            <a:ext cx="151424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 i="0">
                <a:solidFill>
                  <a:srgbClr val="0090C5"/>
                </a:solidFill>
                <a:latin typeface="Arial Black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3993" y="2587751"/>
            <a:ext cx="133136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 Black"/>
              </a:rPr>
              <a:t>Repeat / Share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7145" y="3081527"/>
            <a:ext cx="1185062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E8F4FA"/>
                </a:solidFill>
                <a:latin typeface="Arial"/>
              </a:rPr>
              <a:t>Turn your creation into a reusable Skill, then share it with your team so the work compounds.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75488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1">
                <a:solidFill>
                  <a:srgbClr val="FFCD00"/>
                </a:solidFill>
                <a:latin typeface="Arial"/>
              </a:rPr>
              <a:t>Plan  →  Define  →  Build  →  Refine  →  Share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24688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1">
                <a:solidFill>
                  <a:srgbClr val="FFCD00"/>
                </a:solidFill>
                <a:latin typeface="Arial"/>
              </a:rPr>
              <a:t>#CPAAIBuild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28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246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641080" y="4663440"/>
            <a:ext cx="274320" cy="274320"/>
          </a:xfrm>
          <a:prstGeom prst="ellipse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7680960" y="-1280160"/>
            <a:ext cx="3474720" cy="3474720"/>
          </a:xfrm>
          <a:prstGeom prst="ellipse">
            <a:avLst/>
          </a:prstGeom>
          <a:solidFill>
            <a:srgbClr val="0090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-1097280" y="4023360"/>
            <a:ext cx="1645920" cy="1645920"/>
          </a:xfrm>
          <a:prstGeom prst="ellipse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FFCD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8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2:30 PM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7132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Wrap Up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Q&amp;A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Heather · Beau · Nat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9776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90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 for all presenters.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2940" y="4526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90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A  ·  CPA AUSTRALIA</a:t>
            </a:r>
            <a:endParaRPr lang="en-US" sz="1000" dirty="0"/>
          </a:p>
        </p:txBody>
      </p:sp>
      <p:sp>
        <p:nvSpPr>
          <p:cNvPr id="13" name="TextBox 12"/>
          <p:cNvSpPr txBox="1"/>
          <p:nvPr/>
        </p:nvSpPr>
        <p:spPr>
          <a:xfrm>
            <a:off x="3383280" y="24688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1">
                <a:solidFill>
                  <a:srgbClr val="FFCD00"/>
                </a:solidFill>
                <a:latin typeface="Arial"/>
              </a:rPr>
              <a:t>#CPAAIBuild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28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246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641080" y="4663440"/>
            <a:ext cx="274320" cy="274320"/>
          </a:xfrm>
          <a:prstGeom prst="ellipse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7680960" y="-1280160"/>
            <a:ext cx="3474720" cy="3474720"/>
          </a:xfrm>
          <a:prstGeom prst="ellipse">
            <a:avLst/>
          </a:prstGeom>
          <a:solidFill>
            <a:srgbClr val="0090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-1097280" y="4023360"/>
            <a:ext cx="1645920" cy="1645920"/>
          </a:xfrm>
          <a:prstGeom prst="ellipse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FFCD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8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3:00 PM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7132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Afternoon Tea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57200" y="39776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90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for 3:15 PM.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526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90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 ·  STREAM A</a:t>
            </a:r>
            <a:endParaRPr lang="en-US" sz="1000" dirty="0"/>
          </a:p>
        </p:txBody>
      </p:sp>
      <p:sp>
        <p:nvSpPr>
          <p:cNvPr id="12" name="TextBox 11"/>
          <p:cNvSpPr txBox="1"/>
          <p:nvPr/>
        </p:nvSpPr>
        <p:spPr>
          <a:xfrm>
            <a:off x="3383280" y="24688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1">
                <a:solidFill>
                  <a:srgbClr val="FFCD00"/>
                </a:solidFill>
                <a:latin typeface="Arial"/>
              </a:rPr>
              <a:t>#CPAAIBuild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28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246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641080" y="4663440"/>
            <a:ext cx="274320" cy="274320"/>
          </a:xfrm>
          <a:prstGeom prst="ellipse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7680960" y="-1280160"/>
            <a:ext cx="3474720" cy="3474720"/>
          </a:xfrm>
          <a:prstGeom prst="ellipse">
            <a:avLst/>
          </a:prstGeom>
          <a:solidFill>
            <a:srgbClr val="0090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-1097280" y="4023360"/>
            <a:ext cx="1645920" cy="1645920"/>
          </a:xfrm>
          <a:prstGeom prst="ellipse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FFCD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8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3:15 PM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7132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Hack Session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Audience activity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9776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90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something real.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2940" y="4526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90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A  ·  CPA AUSTRALIA</a:t>
            </a:r>
            <a:endParaRPr lang="en-US" sz="1000" dirty="0"/>
          </a:p>
        </p:txBody>
      </p:sp>
      <p:sp>
        <p:nvSpPr>
          <p:cNvPr id="13" name="TextBox 12"/>
          <p:cNvSpPr txBox="1"/>
          <p:nvPr/>
        </p:nvSpPr>
        <p:spPr>
          <a:xfrm>
            <a:off x="3383280" y="24688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1">
                <a:solidFill>
                  <a:srgbClr val="FFCD00"/>
                </a:solidFill>
                <a:latin typeface="Arial"/>
              </a:rPr>
              <a:t>#CPAAIBuild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28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246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641080" y="4663440"/>
            <a:ext cx="274320" cy="274320"/>
          </a:xfrm>
          <a:prstGeom prst="ellipse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STAY CONNECTED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Find us on LinkedIn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7556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a code or tap through — let's keep the conversation going after today.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4380" y="2148840"/>
            <a:ext cx="2423160" cy="2834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9" name="Image 0" descr="./qr_shared/headshot_sara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2286000"/>
            <a:ext cx="960120" cy="960120"/>
          </a:xfrm>
          <a:prstGeom prst="rect">
            <a:avLst/>
          </a:prstGeom>
        </p:spPr>
      </p:pic>
      <p:pic>
        <p:nvPicPr>
          <p:cNvPr id="10" name="Image 1" descr="./qr_shared/qr_sara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337560"/>
            <a:ext cx="1188720" cy="11887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4380" y="463600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Nat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3360420" y="2148840"/>
            <a:ext cx="2423160" cy="2834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3" name="Image 2" descr="./qr_shared/headshot_bea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1940" y="2286000"/>
            <a:ext cx="960120" cy="960120"/>
          </a:xfrm>
          <a:prstGeom prst="rect">
            <a:avLst/>
          </a:prstGeom>
        </p:spPr>
      </p:pic>
      <p:pic>
        <p:nvPicPr>
          <p:cNvPr id="14" name="Image 3" descr="./qr_shared/qr_bea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7640" y="3337560"/>
            <a:ext cx="1188720" cy="11887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360420" y="463600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Beau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5966460" y="2148840"/>
            <a:ext cx="2423160" cy="2834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7" name="Image 4" descr="./qr_shared/headshot_heath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7980" y="2286000"/>
            <a:ext cx="960120" cy="960120"/>
          </a:xfrm>
          <a:prstGeom prst="rect">
            <a:avLst/>
          </a:prstGeom>
        </p:spPr>
      </p:pic>
      <p:pic>
        <p:nvPicPr>
          <p:cNvPr id="18" name="Image 5" descr="./qr_shared/qr_heath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3337560"/>
            <a:ext cx="1188720" cy="118872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966460" y="463600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Heather</a:t>
            </a:r>
            <a:endParaRPr lang="en-US" sz="1500" dirty="0"/>
          </a:p>
        </p:txBody>
      </p:sp>
      <p:sp>
        <p:nvSpPr>
          <p:cNvPr id="20" name="TextBox 19"/>
          <p:cNvSpPr txBox="1"/>
          <p:nvPr/>
        </p:nvSpPr>
        <p:spPr>
          <a:xfrm>
            <a:off x="3383280" y="24688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1">
                <a:solidFill>
                  <a:srgbClr val="FFCD00"/>
                </a:solidFill>
                <a:latin typeface="Arial"/>
              </a:rPr>
              <a:t>#CPAAIBuild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90C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246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2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641080" y="4663440"/>
            <a:ext cx="274320" cy="274320"/>
          </a:xfrm>
          <a:prstGeom prst="ellipse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-548640" y="1463040"/>
            <a:ext cx="822960" cy="822960"/>
          </a:xfrm>
          <a:prstGeom prst="ellipse">
            <a:avLst/>
          </a:prstGeom>
          <a:solidFill>
            <a:srgbClr val="E8F4F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8503920" y="3840480"/>
            <a:ext cx="914400" cy="914400"/>
          </a:xfrm>
          <a:prstGeom prst="ellipse">
            <a:avLst/>
          </a:prstGeom>
          <a:solidFill>
            <a:srgbClr val="E8F4F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640080" y="86868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028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Don't keep this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i="1" dirty="0">
                <a:solidFill>
                  <a:srgbClr val="0090C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 yourself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685800" y="2377440"/>
            <a:ext cx="2971800" cy="73152"/>
          </a:xfrm>
          <a:prstGeom prst="rect">
            <a:avLst/>
          </a:prstGeom>
          <a:solidFill>
            <a:srgbClr val="0090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640080" y="25603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2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You've just upskilled in AI. That's worth sharing.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154680"/>
            <a:ext cx="6400800" cy="1463040"/>
          </a:xfrm>
          <a:prstGeom prst="roundRect">
            <a:avLst>
              <a:gd name="adj" fmla="val 7500"/>
            </a:avLst>
          </a:prstGeom>
          <a:solidFill>
            <a:srgbClr val="E8F4F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Shape 10"/>
          <p:cNvSpPr/>
          <p:nvPr/>
        </p:nvSpPr>
        <p:spPr>
          <a:xfrm>
            <a:off x="914400" y="2971800"/>
            <a:ext cx="1554480" cy="384048"/>
          </a:xfrm>
          <a:prstGeom prst="roundRect">
            <a:avLst>
              <a:gd name="adj" fmla="val 47619"/>
            </a:avLst>
          </a:prstGeom>
          <a:solidFill>
            <a:srgbClr val="0090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914400" y="29718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Try this post: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3182112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90C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“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1234440" y="3383280"/>
            <a:ext cx="5623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28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I've just completed AI Build Day. Practical, hands-on, and already changing how I work.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360920" y="3611880"/>
            <a:ext cx="777240" cy="777240"/>
          </a:xfrm>
          <a:prstGeom prst="ellipse">
            <a:avLst/>
          </a:prstGeom>
          <a:solidFill>
            <a:srgbClr val="00285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7360920" y="3611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i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640080" y="4828032"/>
            <a:ext cx="365760" cy="27432"/>
          </a:xfrm>
          <a:prstGeom prst="rect">
            <a:avLst/>
          </a:prstGeom>
          <a:solidFill>
            <a:srgbClr val="0090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1097280" y="47091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2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the event. Start a conversation.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903720" y="4828032"/>
            <a:ext cx="365760" cy="27432"/>
          </a:xfrm>
          <a:prstGeom prst="rect">
            <a:avLst/>
          </a:prstGeom>
          <a:solidFill>
            <a:srgbClr val="0090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1" name="TextBox 20"/>
          <p:cNvSpPr txBox="1"/>
          <p:nvPr/>
        </p:nvSpPr>
        <p:spPr>
          <a:xfrm>
            <a:off x="3383280" y="24688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1">
                <a:solidFill>
                  <a:srgbClr val="FFCD00"/>
                </a:solidFill>
                <a:latin typeface="Arial"/>
              </a:rPr>
              <a:t>#CPAAIBuild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28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246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641080" y="4663440"/>
            <a:ext cx="274320" cy="274320"/>
          </a:xfrm>
          <a:prstGeom prst="ellipse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-1097280" y="3474720"/>
            <a:ext cx="2560320" cy="2560320"/>
          </a:xfrm>
          <a:prstGeom prst="ellipse">
            <a:avLst/>
          </a:prstGeom>
          <a:solidFill>
            <a:srgbClr val="0090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-457200" y="4114800"/>
            <a:ext cx="1463040" cy="1463040"/>
          </a:xfrm>
          <a:prstGeom prst="ellipse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i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</a:t>
            </a:r>
            <a:endParaRPr lang="en-US" sz="8000" dirty="0"/>
          </a:p>
          <a:p>
            <a:pPr marL="0" indent="0">
              <a:buNone/>
            </a:pPr>
            <a:r>
              <a:rPr lang="en-US" sz="8000" b="1" i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you!</a:t>
            </a:r>
            <a:endParaRPr lang="en-US" sz="8000" dirty="0"/>
          </a:p>
        </p:txBody>
      </p:sp>
      <p:sp>
        <p:nvSpPr>
          <p:cNvPr id="8" name="TextBox 7"/>
          <p:cNvSpPr txBox="1"/>
          <p:nvPr/>
        </p:nvSpPr>
        <p:spPr>
          <a:xfrm>
            <a:off x="3383280" y="24688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1">
                <a:solidFill>
                  <a:srgbClr val="FFCD00"/>
                </a:solidFill>
                <a:latin typeface="Arial"/>
              </a:rPr>
              <a:t>#CPAAIBuild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1620</Words>
  <Application>Microsoft Office PowerPoint</Application>
  <PresentationFormat>On-screen Show (16:9)</PresentationFormat>
  <Paragraphs>354</Paragraphs>
  <Slides>27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Arial Black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Don't Be Afraid</dc:title>
  <dc:subject>PptxGenJS Presentation</dc:subject>
  <dc:creator>Beau Gaudron</dc:creator>
  <cp:lastModifiedBy>Beau Gaudron</cp:lastModifiedBy>
  <cp:revision>24</cp:revision>
  <dcterms:created xsi:type="dcterms:W3CDTF">2026-04-24T02:59:05Z</dcterms:created>
  <dcterms:modified xsi:type="dcterms:W3CDTF">2026-04-27T04:16:05Z</dcterms:modified>
</cp:coreProperties>
</file>